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74" r:id="rId4"/>
    <p:sldId id="259" r:id="rId5"/>
    <p:sldId id="270" r:id="rId6"/>
    <p:sldId id="258" r:id="rId7"/>
    <p:sldId id="263" r:id="rId8"/>
    <p:sldId id="271" r:id="rId9"/>
    <p:sldId id="272" r:id="rId10"/>
    <p:sldId id="266" r:id="rId11"/>
    <p:sldId id="267" r:id="rId12"/>
    <p:sldId id="273" r:id="rId13"/>
    <p:sldId id="261" r:id="rId14"/>
  </p:sldIdLst>
  <p:sldSz cx="12192000" cy="6858000"/>
  <p:notesSz cx="6858000" cy="9144000"/>
  <p:embeddedFontLst>
    <p:embeddedFont>
      <p:font typeface="Barlow" panose="00000500000000000000" pitchFamily="2" charset="0"/>
      <p:regular r:id="rId15"/>
      <p:bold r:id="rId16"/>
      <p:italic r:id="rId17"/>
      <p:boldItalic r:id="rId18"/>
    </p:embeddedFont>
    <p:embeddedFont>
      <p:font typeface="K2D" panose="00000800000000000000" pitchFamily="2" charset="-34"/>
      <p:regular r:id="rId19"/>
      <p:bold r:id="rId20"/>
      <p:italic r:id="rId21"/>
      <p:boldItalic r:id="rId22"/>
    </p:embeddedFont>
    <p:embeddedFont>
      <p:font typeface="Readex Pro" pitchFamily="2" charset="-78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9D9D9"/>
    <a:srgbClr val="CCFFFF"/>
    <a:srgbClr val="1F5CAA"/>
    <a:srgbClr val="1F5CA9"/>
    <a:srgbClr val="00AFEF"/>
    <a:srgbClr val="27ACE3"/>
    <a:srgbClr val="F2F2F2"/>
    <a:srgbClr val="000000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768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5E41-A1AF-488B-B0BD-65F8B7FDA7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cap="all" dirty="0"/>
              <a:t>Các </a:t>
            </a:r>
            <a:r>
              <a:rPr lang="en-US" cap="all" dirty="0" err="1"/>
              <a:t>công</a:t>
            </a:r>
            <a:r>
              <a:rPr lang="en-US" cap="all" dirty="0"/>
              <a:t> </a:t>
            </a:r>
            <a:r>
              <a:rPr lang="en-US" cap="all" dirty="0" err="1"/>
              <a:t>cụ</a:t>
            </a:r>
            <a:r>
              <a:rPr lang="en-US" cap="all" dirty="0"/>
              <a:t> ai </a:t>
            </a:r>
            <a:br>
              <a:rPr lang="en-VN" cap="all" dirty="0"/>
            </a:br>
            <a:r>
              <a:rPr lang="en-US" cap="all" dirty="0" err="1"/>
              <a:t>đang</a:t>
            </a:r>
            <a:r>
              <a:rPr lang="en-US" cap="all" dirty="0"/>
              <a:t> </a:t>
            </a:r>
            <a:r>
              <a:rPr lang="en-US" cap="all" dirty="0" err="1"/>
              <a:t>thay</a:t>
            </a:r>
            <a:r>
              <a:rPr lang="en-US" cap="all" dirty="0"/>
              <a:t> </a:t>
            </a:r>
            <a:r>
              <a:rPr lang="en-US" cap="all" dirty="0" err="1"/>
              <a:t>đổi</a:t>
            </a:r>
            <a:r>
              <a:rPr lang="en-US" cap="all" dirty="0"/>
              <a:t> </a:t>
            </a:r>
            <a:r>
              <a:rPr lang="en-US" cap="all" dirty="0" err="1"/>
              <a:t>giáo</a:t>
            </a:r>
            <a:r>
              <a:rPr lang="en-US" cap="all" dirty="0"/>
              <a:t> </a:t>
            </a:r>
            <a:r>
              <a:rPr lang="en-US" cap="all" dirty="0" err="1"/>
              <a:t>dục</a:t>
            </a:r>
            <a:br>
              <a:rPr lang="en-VN" cap="all" dirty="0"/>
            </a:br>
            <a:r>
              <a:rPr lang="en-VN" cap="all" dirty="0"/>
              <a:t>NHƯ THẾ NÀO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537F2-C3B5-487E-AF04-318467A15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144" y="3962400"/>
            <a:ext cx="11205713" cy="937848"/>
          </a:xfrm>
        </p:spPr>
        <p:txBody>
          <a:bodyPr/>
          <a:lstStyle/>
          <a:p>
            <a:r>
              <a:rPr lang="en-US" sz="1800" b="1" cap="all" dirty="0"/>
              <a:t>BÁO </a:t>
            </a:r>
            <a:r>
              <a:rPr lang="en-US" sz="1800" b="1" cap="all" dirty="0" err="1"/>
              <a:t>cáo</a:t>
            </a:r>
            <a:r>
              <a:rPr lang="en-US" sz="1800" b="1" cap="all" dirty="0"/>
              <a:t> </a:t>
            </a:r>
            <a:r>
              <a:rPr lang="en-US" sz="1800" b="1" cap="all" dirty="0" err="1"/>
              <a:t>dự</a:t>
            </a:r>
            <a:r>
              <a:rPr lang="en-US" sz="1800" b="1" cap="all" dirty="0"/>
              <a:t> </a:t>
            </a:r>
            <a:r>
              <a:rPr lang="en-US" sz="1800" b="1" cap="all" dirty="0" err="1"/>
              <a:t>án</a:t>
            </a:r>
            <a:r>
              <a:rPr lang="en-US" sz="1800" b="1" cap="all" dirty="0"/>
              <a:t> </a:t>
            </a:r>
            <a:r>
              <a:rPr lang="en-US" sz="1800" b="1" cap="all" dirty="0" err="1"/>
              <a:t>nhóm</a:t>
            </a:r>
            <a:r>
              <a:rPr lang="en-US" sz="1800" b="1" cap="all" dirty="0"/>
              <a:t> </a:t>
            </a:r>
            <a:r>
              <a:rPr lang="en-US" sz="1800" b="1" cap="all" dirty="0" err="1"/>
              <a:t>tích</a:t>
            </a:r>
            <a:r>
              <a:rPr lang="en-US" sz="1800" b="1" cap="all" dirty="0"/>
              <a:t> </a:t>
            </a:r>
            <a:r>
              <a:rPr lang="en-US" sz="1800" b="1" cap="all" dirty="0" err="1"/>
              <a:t>hợp</a:t>
            </a:r>
            <a:endParaRPr lang="en-VN" sz="1800" b="1" cap="all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7A67E-F5E5-4E62-AFA1-B5747C25A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0953" y="5181600"/>
            <a:ext cx="6947337" cy="571281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7EE01D-23A0-8295-9394-6BDCFD6F9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351407"/>
              </p:ext>
            </p:extLst>
          </p:nvPr>
        </p:nvGraphicFramePr>
        <p:xfrm>
          <a:off x="2438400" y="4999107"/>
          <a:ext cx="7262648" cy="1162114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3631324">
                  <a:extLst>
                    <a:ext uri="{9D8B030D-6E8A-4147-A177-3AD203B41FA5}">
                      <a16:colId xmlns:a16="http://schemas.microsoft.com/office/drawing/2014/main" val="3198881187"/>
                    </a:ext>
                  </a:extLst>
                </a:gridCol>
                <a:gridCol w="3631324">
                  <a:extLst>
                    <a:ext uri="{9D8B030D-6E8A-4147-A177-3AD203B41FA5}">
                      <a16:colId xmlns:a16="http://schemas.microsoft.com/office/drawing/2014/main" val="1522876857"/>
                    </a:ext>
                  </a:extLst>
                </a:gridCol>
              </a:tblGrid>
              <a:tr h="2049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          </a:t>
                      </a:r>
                      <a:r>
                        <a:rPr lang="en-US" sz="1400" kern="100" dirty="0">
                          <a:effectLst/>
                        </a:rPr>
                        <a:t>CÁN BỘ HƯỚNG DẪN</a:t>
                      </a:r>
                      <a:endParaRPr lang="en-VN" sz="1200" kern="100" dirty="0">
                        <a:effectLst/>
                        <a:latin typeface="Aptos" panose="020B000402020202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NHÓM SINH VIÊN THỰC HIỆN:</a:t>
                      </a:r>
                      <a:endParaRPr lang="en-VN" sz="1200" kern="100" dirty="0">
                        <a:effectLst/>
                        <a:latin typeface="Aptos" panose="020B000402020202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345947"/>
                  </a:ext>
                </a:extLst>
              </a:tr>
              <a:tr h="20336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        </a:t>
                      </a:r>
                      <a:r>
                        <a:rPr lang="en-US" sz="1300" kern="100" dirty="0" err="1">
                          <a:effectLst/>
                        </a:rPr>
                        <a:t>ThS</a:t>
                      </a:r>
                      <a:r>
                        <a:rPr lang="en-US" sz="1300" kern="100" dirty="0">
                          <a:effectLst/>
                        </a:rPr>
                        <a:t>. NGUYỄN MINH TRUNG</a:t>
                      </a:r>
                      <a:endParaRPr lang="en-VN" sz="1200" kern="100" dirty="0">
                        <a:effectLst/>
                        <a:latin typeface="Aptos" panose="020B000402020202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TRẦN NGỌC DUY (B2511654)</a:t>
                      </a:r>
                      <a:endParaRPr lang="en-VN" sz="1200" kern="100" dirty="0">
                        <a:effectLst/>
                        <a:latin typeface="Aptos" panose="020B000402020202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2138308"/>
                  </a:ext>
                </a:extLst>
              </a:tr>
              <a:tr h="2049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VN" sz="1200" kern="100" dirty="0">
                        <a:effectLst/>
                        <a:latin typeface="Aptos" panose="020B000402020202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NHAN TUYỀN VINH (B2509772)</a:t>
                      </a:r>
                      <a:endParaRPr lang="en-VN" sz="1200" kern="100" dirty="0">
                        <a:effectLst/>
                        <a:latin typeface="Aptos" panose="020B000402020202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8670941"/>
                  </a:ext>
                </a:extLst>
              </a:tr>
              <a:tr h="2049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VN" sz="1200" kern="100">
                        <a:effectLst/>
                        <a:latin typeface="Aptos" panose="020B000402020202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NGUYỄN QUANG DINH (B2511650)</a:t>
                      </a:r>
                      <a:endParaRPr lang="en-VN" sz="1200" kern="100" dirty="0">
                        <a:effectLst/>
                        <a:latin typeface="Aptos" panose="020B000402020202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2246918"/>
                  </a:ext>
                </a:extLst>
              </a:tr>
              <a:tr h="2049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VN" sz="1200" kern="100">
                        <a:effectLst/>
                        <a:latin typeface="Aptos" panose="020B000402020202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ĐẶNG MINH THÔNG (B2511679)</a:t>
                      </a:r>
                      <a:endParaRPr lang="en-VN" sz="1200" kern="100" dirty="0">
                        <a:effectLst/>
                        <a:latin typeface="Aptos" panose="020B000402020202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384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87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ACE8DF-BE37-4B49-9A1D-4D0FC8ACB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566" y="1841320"/>
            <a:ext cx="9634337" cy="4169515"/>
          </a:xfrm>
          <a:prstGeom prst="round2DiagRect">
            <a:avLst/>
          </a:prstGeom>
          <a:gradFill>
            <a:gsLst>
              <a:gs pos="55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25000" lnSpcReduction="20000"/>
          </a:bodyPr>
          <a:lstStyle/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VN" altLang="en-VN" sz="1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Trong những năm gần đây, trí tuệ nhân tạo (AI) phát triển</a:t>
            </a:r>
            <a:br>
              <a:rPr lang="en-VN" altLang="en-VN" sz="1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VN" altLang="en-VN" sz="1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mạnh mẽ và tạo ra nhiều thay đổi trong nhiều lĩnh vực, đặc biệt là giáo dục. </a:t>
            </a:r>
            <a:endParaRPr lang="en-VN" altLang="en-VN" sz="1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VN" altLang="en-VN" sz="1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VN" altLang="en-VN" sz="1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công cụ AI như</a:t>
            </a:r>
            <a:r>
              <a:rPr lang="en-VN" altLang="en-V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VN" altLang="en-VN" sz="9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VN" altLang="en-VN" sz="9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VN" altLang="en-VN" sz="1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chatbot học tập</a:t>
            </a: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VN" altLang="en-VN" sz="1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2. Hệ thống dạy học thông minh</a:t>
            </a: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VN" altLang="en-VN" sz="1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3. Nền tảng học trực tuyến đang hỗ trợ người học tiếp cận kiến thức nhanh hơn và nâng cao hiệu quả giảng dạy</a:t>
            </a:r>
            <a:r>
              <a:rPr lang="en-VN" altLang="en-VN" sz="112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sz="112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FC4B2F-1EB7-B5DC-3129-A1D56B8DB5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864069" y="699247"/>
            <a:ext cx="6463862" cy="646986"/>
          </a:xfrm>
          <a:prstGeom prst="roundRect">
            <a:avLst/>
          </a:prstGeom>
          <a:gradFill>
            <a:gsLst>
              <a:gs pos="4000">
                <a:srgbClr val="D9D9D9"/>
              </a:gs>
              <a:gs pos="34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66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75999">
                  <a:srgbClr val="ABC0E4"/>
                </a:gs>
                <a:gs pos="80003">
                  <a:srgbClr val="ABC0E4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 đề tài</a:t>
            </a:r>
            <a:endParaRPr kumimoji="0" lang="en-VN" altLang="en-VN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35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188F8D0-0685-E92E-6861-57723448E36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3" r="9073"/>
          <a:stretch>
            <a:fillRect/>
          </a:stretch>
        </p:blipFill>
        <p:spPr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prstClr val="white">
              <a:lumMod val="95000"/>
            </a:prstClr>
          </a:solidFill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9783617-F913-6C35-77F9-0A076CD5E12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3F59C36-1008-D5DD-E58D-705D3CE2341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62985" y="784841"/>
            <a:ext cx="5153025" cy="646986"/>
          </a:xfrm>
          <a:prstGeom prst="roundRect">
            <a:avLst/>
          </a:prstGeom>
          <a:gradFill>
            <a:gsLst>
              <a:gs pos="3000">
                <a:srgbClr val="D9D9D9"/>
              </a:gs>
              <a:gs pos="55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  <a:gs pos="97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  <a:endParaRPr kumimoji="0" lang="en-VN" altLang="en-VN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DFCF9C9-91BA-88F2-34E3-0D99C326F0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4347" y="1755925"/>
            <a:ext cx="7250303" cy="4392692"/>
          </a:xfrm>
          <a:prstGeom prst="round2DiagRect">
            <a:avLst/>
          </a:prstGeom>
          <a:gradFill>
            <a:gsLst>
              <a:gs pos="30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  <a:gs pos="97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đang trở thành công cụ quan trọng trong giáo dục hiện đại.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Việc ứng dụng AI giúp: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nâng cao hiệu quả học tập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hỗ trợ giảng dạy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mở rộng cơ hội tiếp cận giáo dục.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Tuy nhiên cần sử dụng AI một cách có trách nhiệm để đảm bảo chất lượng và tính trung thực trong học tập. 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927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890275B-1BAA-D6DC-198A-38177BA4E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39460" y="415354"/>
            <a:ext cx="6113079" cy="715089"/>
          </a:xfrm>
          <a:prstGeom prst="roundRect">
            <a:avLst/>
          </a:prstGeom>
          <a:gradFill>
            <a:gsLst>
              <a:gs pos="4000">
                <a:srgbClr val="D9D9D9"/>
              </a:gs>
              <a:gs pos="34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75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outerShdw blurRad="831139" dist="189664" dir="6180000" algn="ctr" rotWithShape="0">
              <a:schemeClr val="bg2"/>
            </a:outerShdw>
            <a:reflection endPos="0" dist="50800" dir="5400000" sy="-100000" algn="bl" rotWithShape="0"/>
          </a:effectLst>
          <a:scene3d>
            <a:camera prst="obliqueTopLeft"/>
            <a:lightRig rig="threePt" dir="t"/>
          </a:scene3d>
          <a:sp3d extrusionH="76200" prstMaterial="flat">
            <a:bevelT w="165100" prst="coolSlant"/>
            <a:bevelB prst="relaxedInset"/>
            <a:extrusionClr>
              <a:srgbClr val="CCFFFF"/>
            </a:extrusionClr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 tiêu nghiên cứu</a:t>
            </a:r>
            <a:endParaRPr kumimoji="0" lang="en-VN" altLang="en-V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ECBA06D-DBB1-E568-1DAF-9851BC0211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483" y="1446324"/>
            <a:ext cx="10771094" cy="4222433"/>
          </a:xfrm>
          <a:prstGeom prst="round2DiagRect">
            <a:avLst/>
          </a:prstGeom>
          <a:gradFill>
            <a:gsLst>
              <a:gs pos="51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Mục tiêu chính của nghiên cứu là tìm hiểu và phân tích tác động của các công cụ AI đối với giáo dục hiện nay.</a:t>
            </a:r>
            <a:endParaRPr kumimoji="0" lang="en-VN" altLang="en-V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VN" altLang="en-V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 mục tiêu cụ thể gồm:</a:t>
            </a:r>
            <a:endParaRPr kumimoji="0" lang="en-VN" altLang="en-V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l">
              <a:buFontTx/>
              <a:buChar char="•"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 tích vai trò và ứng dụng của AI trong dạy và học</a:t>
            </a:r>
          </a:p>
          <a:p>
            <a:pPr lvl="2" algn="l">
              <a:buFontTx/>
              <a:buChar char="•"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Đánh giá lợi ích AI mang lại cho giáo viên và sinh viên</a:t>
            </a:r>
          </a:p>
          <a:p>
            <a:pPr lvl="2" algn="l">
              <a:buFontTx/>
              <a:buChar char="•"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những thách thức khi sử dụng AI</a:t>
            </a:r>
          </a:p>
          <a:p>
            <a:pPr lvl="2" algn="l">
              <a:buFontTx/>
              <a:buChar char="•"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hướng sử dụng AI hiệu quả trong giáo dục.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9804806-A643-B046-0B10-30CC962DFE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43555" y="414490"/>
            <a:ext cx="8904890" cy="953453"/>
          </a:xfrm>
          <a:prstGeom prst="roundRect">
            <a:avLst/>
          </a:prstGeom>
          <a:gradFill>
            <a:gsLst>
              <a:gs pos="5000">
                <a:srgbClr val="D9D9D9"/>
              </a:gs>
              <a:gs pos="51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Phạm vi và phương pháp nghiên cứu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E5ADC18-8C75-CBD2-CA53-7F07B8F472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5424" y="1651714"/>
            <a:ext cx="10044951" cy="4699159"/>
          </a:xfrm>
          <a:prstGeom prst="round2DiagRect">
            <a:avLst/>
          </a:prstGeom>
          <a:gradFill>
            <a:gsLst>
              <a:gs pos="67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4000"/>
                  <a:lumOff val="66000"/>
                  <a:alpha val="72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Phạm vi nghiên cứu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buFontTx/>
              <a:buChar char="•"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Giai đoạn: 2023 – 2026</a:t>
            </a:r>
          </a:p>
          <a:p>
            <a:pPr lvl="1" algn="l">
              <a:buFontTx/>
              <a:buChar char="•"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Nội dung: tác động của AI đối với hoạt động dạy và học</a:t>
            </a:r>
          </a:p>
          <a:p>
            <a:pPr lvl="1" algn="l">
              <a:buFontTx/>
              <a:buChar char="•"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Phạm vi địa lý: Việt Nam và một số xu hướng quốc tế.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nghiên cứu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buFontTx/>
              <a:buChar char="•"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 thập và phân tích tài liệu</a:t>
            </a:r>
          </a:p>
          <a:p>
            <a:pPr lvl="1" algn="l">
              <a:buFontTx/>
              <a:buChar char="•"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Đánh giá nguồn thông tin theo mô hình CRAAP</a:t>
            </a:r>
          </a:p>
          <a:p>
            <a:pPr lvl="1" algn="l">
              <a:buFontTx/>
              <a:buChar char="•"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 dụng AI hỗ trợ nghiên cứu.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51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821F3EBA-30CD-E753-D261-7F0209BDAA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4348" y="2049942"/>
            <a:ext cx="5581652" cy="3915966"/>
          </a:xfrm>
          <a:prstGeom prst="round2DiagRect">
            <a:avLst/>
          </a:prstGeom>
          <a:gradFill>
            <a:gsLst>
              <a:gs pos="57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trong giáo dục (AI in Education – AIEd) là việc ứng dụng các công nghệ trí tuệ nhân tạo như: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Xử lý ngôn ngữ tự nhiên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 tích dữ liệu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nhằm hỗ trợ hoạt động giảng dạy, học tập và quản lý giáo dục.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123D819-3B6A-01E3-10B1-BC29C0B3B88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938" y="1557005"/>
            <a:ext cx="5324112" cy="37517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bliqueTopRigh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664AC0B1-8A65-33E4-4451-7D22060BEA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14348" y="1172302"/>
            <a:ext cx="5581652" cy="646986"/>
          </a:xfrm>
          <a:prstGeom prst="roundRect">
            <a:avLst/>
          </a:prstGeom>
          <a:gradFill>
            <a:gsLst>
              <a:gs pos="5000">
                <a:srgbClr val="D9D9D9"/>
              </a:gs>
              <a:gs pos="51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Khái niệm AI trong giáo dục</a:t>
            </a:r>
            <a:endParaRPr kumimoji="0" lang="en-VN" altLang="en-VN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1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E56DA33-BB36-0164-2585-D87C52BF832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>
          <a:xfrm>
            <a:off x="438976" y="139219"/>
            <a:ext cx="2908343" cy="2908343"/>
          </a:xfrm>
          <a:prstGeom prst="diamond">
            <a:avLst/>
          </a:prstGeom>
          <a:ln>
            <a:noFill/>
          </a:ln>
          <a:effectLst>
            <a:glow rad="227785">
              <a:schemeClr val="accent1">
                <a:alpha val="40000"/>
              </a:schemeClr>
            </a:glow>
          </a:effectLst>
        </p:spPr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445C1053-9A3F-5081-F6CC-20B1E8876E3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0" t="-13502" r="16053" b="-14194"/>
          <a:stretch>
            <a:fillRect/>
          </a:stretch>
        </p:blipFill>
        <p:spPr>
          <a:xfrm>
            <a:off x="438976" y="3428999"/>
            <a:ext cx="2908343" cy="2908343"/>
          </a:xfrm>
          <a:prstGeom prst="diamond">
            <a:avLst/>
          </a:prstGeom>
          <a:ln>
            <a:noFill/>
          </a:ln>
          <a:effectLst>
            <a:glow rad="210536">
              <a:schemeClr val="accent1">
                <a:alpha val="40000"/>
              </a:schemeClr>
            </a:glow>
            <a:reflection blurRad="442202" stA="45000" endPos="65000" dist="50800" dir="5400000" sy="-100000" algn="bl" rotWithShape="0"/>
          </a:effectLst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86A181F-99D9-C6AC-19E6-D2ABC8755CE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96267" y="1752381"/>
            <a:ext cx="2908343" cy="2908343"/>
          </a:xfrm>
          <a:prstGeom prst="diamond">
            <a:avLst/>
          </a:prstGeom>
          <a:ln>
            <a:noFill/>
          </a:ln>
          <a:effectLst>
            <a:glow rad="193633">
              <a:schemeClr val="accent1">
                <a:alpha val="40000"/>
              </a:schemeClr>
            </a:glow>
          </a:effec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F8DE324-C386-BBA1-6DC2-D525FB1DF72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882862" y="276633"/>
            <a:ext cx="5275580" cy="646986"/>
          </a:xfrm>
          <a:prstGeom prst="roundRect">
            <a:avLst/>
          </a:prstGeom>
          <a:gradFill>
            <a:gsLst>
              <a:gs pos="0">
                <a:srgbClr val="D9D9D9"/>
              </a:gs>
              <a:gs pos="37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 công cụ AI phổ biến</a:t>
            </a:r>
            <a:endParaRPr kumimoji="0" lang="en-VN" altLang="en-VN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4070D4A-491E-BCC0-F7F6-8D3997333C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88280" y="1365768"/>
            <a:ext cx="6464744" cy="4971574"/>
          </a:xfrm>
          <a:prstGeom prst="round2DiagRect">
            <a:avLst/>
          </a:prstGeom>
          <a:gradFill>
            <a:gsLst>
              <a:gs pos="55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 công cụ AI trong giáo dục được chia thành hai nhóm:</a:t>
            </a:r>
            <a:endParaRPr kumimoji="0" lang="en-VN" altLang="en-VN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đa dụng</a:t>
            </a:r>
            <a:endParaRPr kumimoji="0" lang="en-VN" altLang="en-VN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chuyên biệt cho giáo dục</a:t>
            </a:r>
            <a:endParaRPr kumimoji="0" lang="en-VN" altLang="en-VN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Khanmigo (Khan Academy)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NotebookLM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MagicSchool.ai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Những công cụ này hỗ trợ học tập và giảng dạy hiệu quả hơn. </a:t>
            </a:r>
            <a:endParaRPr kumimoji="0" lang="en-VN" altLang="en-VN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549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265506-1797-4C60-8EAF-E1A01A3DF58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60934"/>
            <a:ext cx="5394960" cy="4177866"/>
          </a:xfrm>
          <a:prstGeom prst="rect">
            <a:avLst/>
          </a:prstGeom>
          <a:noFill/>
          <a:effectLst>
            <a:glow rad="384603">
              <a:schemeClr val="accent1">
                <a:alpha val="40000"/>
              </a:schemeClr>
            </a:glo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088E729-AE85-908B-A176-7AB747EA02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14348" y="616454"/>
            <a:ext cx="5063492" cy="646986"/>
          </a:xfrm>
          <a:prstGeom prst="roundRect">
            <a:avLst/>
          </a:prstGeom>
          <a:gradFill>
            <a:gsLst>
              <a:gs pos="4000">
                <a:srgbClr val="D9D9D9"/>
              </a:gs>
              <a:gs pos="48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Tác động tích cực</a:t>
            </a:r>
            <a:endParaRPr kumimoji="0" lang="en-VN" altLang="en-VN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AF2A3BE-83A2-7797-734A-5B5F88D43FA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4348" y="1811578"/>
            <a:ext cx="5063492" cy="4392692"/>
          </a:xfrm>
          <a:prstGeom prst="round2DiagRect">
            <a:avLst/>
          </a:prstGeom>
          <a:gradFill>
            <a:gsLst>
              <a:gs pos="68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Việc ứng dụng AI trong giáo dục mang lại nhiều lợi ích: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Cải thiện hiệu quả học tập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Giảm khối lượng công việc cho giáo viên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Tăng khả năng tiếp cận giáo dục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Hỗ trợ học tập mọi lúc mọi nơi.</a:t>
            </a:r>
          </a:p>
        </p:txBody>
      </p:sp>
    </p:spTree>
    <p:extLst>
      <p:ext uri="{BB962C8B-B14F-4D97-AF65-F5344CB8AC3E}">
        <p14:creationId xmlns:p14="http://schemas.microsoft.com/office/powerpoint/2010/main" val="79597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2E4FF8-F177-EB5E-60C8-842C912D2A8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" y="1814195"/>
            <a:ext cx="4968240" cy="3535045"/>
          </a:xfrm>
          <a:prstGeom prst="rect">
            <a:avLst/>
          </a:prstGeom>
          <a:effectLst>
            <a:glow rad="518000">
              <a:schemeClr val="accent1">
                <a:alpha val="40000"/>
              </a:schemeClr>
            </a:glow>
          </a:effec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AC5FEFF-F873-8773-EDDB-BD78E316BD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715131" y="979448"/>
            <a:ext cx="4362442" cy="646986"/>
          </a:xfrm>
          <a:prstGeom prst="roundRect">
            <a:avLst/>
          </a:prstGeom>
          <a:gradFill>
            <a:gsLst>
              <a:gs pos="4000">
                <a:srgbClr val="D9D9D9"/>
              </a:gs>
              <a:gs pos="48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Tác động tiêu cực</a:t>
            </a:r>
            <a:endParaRPr kumimoji="0" lang="en-VN" altLang="en-VN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7C29D0B-454A-29F6-232D-5D84D367A6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00" y="2160706"/>
            <a:ext cx="5600704" cy="391596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68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Bên cạnh lợi ích, AI cũng có một số hạn chế: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Nguy cơ gian lận học tập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Phụ thuộc quá nhiều vào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Thông tin do AI tạo ra có thể không chính xác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Ảnh hưởng đến khả năng tư duy độc lập của người học. </a:t>
            </a:r>
          </a:p>
        </p:txBody>
      </p:sp>
    </p:spTree>
    <p:extLst>
      <p:ext uri="{BB962C8B-B14F-4D97-AF65-F5344CB8AC3E}">
        <p14:creationId xmlns:p14="http://schemas.microsoft.com/office/powerpoint/2010/main" val="214576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7849FDC-03A4-A0A4-1878-A3FE6CD9627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 b="3140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6D20493-C01B-FA64-F919-E177C8F9F1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14348" y="1076682"/>
            <a:ext cx="5581652" cy="646986"/>
          </a:xfrm>
          <a:prstGeom prst="roundRect">
            <a:avLst/>
          </a:prstGeom>
          <a:gradFill>
            <a:gsLst>
              <a:gs pos="0">
                <a:srgbClr val="D9D9D9"/>
              </a:gs>
              <a:gs pos="55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AI trong giáo dục</a:t>
            </a:r>
            <a:endParaRPr kumimoji="0" lang="en-VN" altLang="en-VN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6B20EBF-E6F0-7AB2-2022-8ABEC973B4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4348" y="2122686"/>
            <a:ext cx="5581652" cy="3915966"/>
          </a:xfrm>
          <a:prstGeom prst="round2DiagRect">
            <a:avLst/>
          </a:prstGeom>
          <a:gradFill>
            <a:gsLst>
              <a:gs pos="55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được ứng dụng trong nhiều hoạt động như: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 nhân hóa việc học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Chấm bài và đánh giá tự động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Tạo bài giảng và tài liệu học tập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Hỗ trợ sinh viên giải thích các khái niệm khó và tìm kiếm thông tin học tập.</a:t>
            </a:r>
          </a:p>
        </p:txBody>
      </p:sp>
    </p:spTree>
    <p:extLst>
      <p:ext uri="{BB962C8B-B14F-4D97-AF65-F5344CB8AC3E}">
        <p14:creationId xmlns:p14="http://schemas.microsoft.com/office/powerpoint/2010/main" val="2903526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2CAF0F8-5FCA-F4B2-B856-15EC77477D1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4" r="35414"/>
          <a:stretch>
            <a:fillRect/>
          </a:stretch>
        </p:blipFill>
        <p:spPr>
          <a:prstGeom prst="roundRect">
            <a:avLst>
              <a:gd name="adj" fmla="val 4741"/>
            </a:avLst>
          </a:prstGeom>
          <a:solidFill>
            <a:prstClr val="white">
              <a:lumMod val="95000"/>
            </a:prstClr>
          </a:solidFill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1A6DBF7-4B54-CA25-ABD2-C6D7CBBF82F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815037" y="733782"/>
            <a:ext cx="4980273" cy="646986"/>
          </a:xfrm>
          <a:prstGeom prst="roundRect">
            <a:avLst/>
          </a:prstGeom>
          <a:gradFill>
            <a:gsLst>
              <a:gs pos="4000">
                <a:srgbClr val="D9D9D9"/>
              </a:gs>
              <a:gs pos="48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Thách thức khi áp dụng AI</a:t>
            </a:r>
            <a:endParaRPr kumimoji="0" lang="en-VN" altLang="en-VN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DB80A8-809E-D396-9C92-E11F98E5EB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4348" y="1994287"/>
            <a:ext cx="5581652" cy="3915966"/>
          </a:xfrm>
          <a:prstGeom prst="round2DiagRect">
            <a:avLst/>
          </a:prstGeom>
          <a:gradFill>
            <a:gsLst>
              <a:gs pos="48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Một số thách thức khi áp dụng AI trong giáo dục: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Vấn đề đạo đức và bản quyền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Bảo mật dữ liệu cá nhân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Khoảng cách công nghệ giữa các khu vực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Kỹ năng sử dụng AI của giáo viên và học sinh chưa đồng đều. </a:t>
            </a:r>
          </a:p>
        </p:txBody>
      </p:sp>
    </p:spTree>
    <p:extLst>
      <p:ext uri="{BB962C8B-B14F-4D97-AF65-F5344CB8AC3E}">
        <p14:creationId xmlns:p14="http://schemas.microsoft.com/office/powerpoint/2010/main" val="356230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0877498-F72F-2F48-95DA-AD0003EFF65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9" b="2779"/>
          <a:stretch>
            <a:fillRect/>
          </a:stretch>
        </p:blipFill>
        <p:spPr>
          <a:prstGeom prst="rect">
            <a:avLst/>
          </a:prstGeom>
          <a:solidFill>
            <a:prstClr val="white"/>
          </a:solidFill>
          <a:ln w="38100">
            <a:noFill/>
            <a:miter lim="800000"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89E6C17-47E4-21C8-874D-9D1129D9732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96241" y="1355662"/>
            <a:ext cx="4752063" cy="646986"/>
          </a:xfrm>
          <a:prstGeom prst="roundRect">
            <a:avLst/>
          </a:prstGeom>
          <a:gradFill>
            <a:gsLst>
              <a:gs pos="4000">
                <a:srgbClr val="D9D9D9"/>
              </a:gs>
              <a:gs pos="30000">
                <a:schemeClr val="accent1">
                  <a:lumMod val="5000"/>
                  <a:lumOff val="95000"/>
                  <a:alpha val="6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Khuyến nghị khi sử dụng AI</a:t>
            </a:r>
            <a:endParaRPr kumimoji="0" lang="en-VN" altLang="en-V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AD3FEC-D050-D109-E58D-AEFF729920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41485" y="1067530"/>
            <a:ext cx="5805647" cy="4392692"/>
          </a:xfrm>
          <a:prstGeom prst="round2DiagRect">
            <a:avLst/>
          </a:prstGeom>
          <a:gradFill>
            <a:gsLst>
              <a:gs pos="30000">
                <a:schemeClr val="accent1">
                  <a:lumMod val="5000"/>
                  <a:lumOff val="95000"/>
                  <a:alpha val="65000"/>
                </a:schemeClr>
              </a:gs>
              <a:gs pos="90000">
                <a:schemeClr val="accent5">
                  <a:lumMod val="60000"/>
                  <a:lumOff val="40000"/>
                </a:schemeClr>
              </a:gs>
              <a:gs pos="71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Để sử dụng AI hiệu quả trong giáo dục cần:</a:t>
            </a:r>
            <a:endParaRPr kumimoji="0" lang="en-VN" altLang="en-V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Xây dựng quy định rõ ràng về việc sử dụng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Đào tạo giáo viên về công nghệ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sinh viên sử dụng AI đúng cách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VN" altLang="en-V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Đảm bảo bảo mật dữ liệu người học.</a:t>
            </a:r>
          </a:p>
        </p:txBody>
      </p:sp>
    </p:spTree>
    <p:extLst>
      <p:ext uri="{BB962C8B-B14F-4D97-AF65-F5344CB8AC3E}">
        <p14:creationId xmlns:p14="http://schemas.microsoft.com/office/powerpoint/2010/main" val="866091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CÁM ƠN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E8CBC-CC0F-41DD-9762-03FD26D3B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7096" y="526942"/>
            <a:ext cx="945398" cy="36985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4AE05C-DA53-1407-22D9-FAE76EB30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550" y="1604200"/>
            <a:ext cx="7350581" cy="3847862"/>
          </a:xfrm>
          <a:prstGeom prst="roundRect">
            <a:avLst/>
          </a:prstGeom>
          <a:gradFill>
            <a:gsLst>
              <a:gs pos="100000">
                <a:srgbClr val="FFFFFF"/>
              </a:gs>
              <a:gs pos="2000">
                <a:schemeClr val="accent5">
                  <a:lumMod val="40000"/>
                  <a:lumOff val="60000"/>
                </a:schemeClr>
              </a:gs>
              <a:gs pos="4700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 rad="1057306">
              <a:schemeClr val="accent1">
                <a:alpha val="40000"/>
              </a:schemeClr>
            </a:glo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VN" altLang="en-V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CẢM ƠN THẦY VÀ CÁC BẠN ĐÃ LẮNG NGHE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Nhóm xin chân thành cảm ơn</a:t>
            </a:r>
            <a:br>
              <a:rPr kumimoji="0" lang="en-VN" altLang="en-V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VN" altLang="en-V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ThS. </a:t>
            </a:r>
            <a:r>
              <a:rPr kumimoji="0" lang="en-VN" altLang="en-V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Nguyễn Minh Trung</a:t>
            </a:r>
            <a:r>
              <a:rPr kumimoji="0" lang="en-VN" altLang="en-V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đã hướng dẫn và hỗ trợ nhóm trong quá trình thực hiện dự án.</a:t>
            </a:r>
            <a:endParaRPr kumimoji="0" lang="en-VN" altLang="en-V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Rất mong nhận được những ý kiến đóng góp từ thầy và các bạn để bài báo cáo được hoàn thiện hơn.</a:t>
            </a:r>
            <a:endParaRPr kumimoji="0" lang="en-VN" altLang="en-V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Xin cảm ơn!</a:t>
            </a:r>
            <a:endParaRPr kumimoji="0" lang="en-VN" altLang="en-V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4629</TotalTime>
  <Words>820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-webkit-standard</vt:lpstr>
      <vt:lpstr>K2D</vt:lpstr>
      <vt:lpstr>Arial</vt:lpstr>
      <vt:lpstr>Readex Pro</vt:lpstr>
      <vt:lpstr>Aptos</vt:lpstr>
      <vt:lpstr>Barlow</vt:lpstr>
      <vt:lpstr>Times New Roman</vt:lpstr>
      <vt:lpstr>Office Theme</vt:lpstr>
      <vt:lpstr>Các công cụ ai  đang thay đổi giáo dục NHƯ THẾ NÀO</vt:lpstr>
      <vt:lpstr>Lý do chọn đề tài</vt:lpstr>
      <vt:lpstr>Kết luận</vt:lpstr>
      <vt:lpstr>Mục tiêu nghiên cứu</vt:lpstr>
      <vt:lpstr>Phạm vi và phương pháp nghiên cứu </vt:lpstr>
      <vt:lpstr>Khái niệm AI trong giáo dục</vt:lpstr>
      <vt:lpstr>Các công cụ AI phổ biến</vt:lpstr>
      <vt:lpstr>Tác động tích cực</vt:lpstr>
      <vt:lpstr>Tác động tiêu cực</vt:lpstr>
      <vt:lpstr>Ứng dụng AI trong giáo dục</vt:lpstr>
      <vt:lpstr>Thách thức khi áp dụng AI</vt:lpstr>
      <vt:lpstr>Khuyến nghị khi sử dụng AI</vt:lpstr>
      <vt:lpstr>CÁM ƠN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RE Koiiwa</cp:lastModifiedBy>
  <cp:revision>232</cp:revision>
  <dcterms:created xsi:type="dcterms:W3CDTF">2022-07-01T08:15:51Z</dcterms:created>
  <dcterms:modified xsi:type="dcterms:W3CDTF">2026-03-16T08:39:19Z</dcterms:modified>
</cp:coreProperties>
</file>